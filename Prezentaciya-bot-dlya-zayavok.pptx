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" y="1371600"/>
            <a:ext cx="822960" cy="822960"/>
          </a:xfrm>
          <a:prstGeom prst="ellipse">
            <a:avLst/>
          </a:prstGeom>
          <a:solidFill>
            <a:srgbClr val="00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00" b="1">
                <a:solidFill>
                  <a:srgbClr val="FFFFFF"/>
                </a:solidFill>
                <a:latin typeface="Cambria"/>
              </a:rPr>
              <a:t>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5400" b="1">
                <a:solidFill>
                  <a:srgbClr val="FFFFFF"/>
                </a:solidFill>
                <a:latin typeface="Cambria"/>
              </a:rPr>
              <a:t>Бот для заявок</a:t>
            </a:r>
          </a:p>
          <a:p>
            <a:pPr algn="l">
              <a:spcAft>
                <a:spcPts val="200"/>
              </a:spcAft>
            </a:pPr>
            <a:r>
              <a:rPr sz="5400" b="1">
                <a:solidFill>
                  <a:srgbClr val="007AFF"/>
                </a:solidFill>
                <a:latin typeface="Cambria"/>
              </a:rPr>
              <a:t>Битрикс24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617720"/>
            <a:ext cx="8686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E8F1FF"/>
                </a:solidFill>
                <a:latin typeface="Calibri"/>
              </a:rPr>
              <a:t>Программа сама следит за партнёрскими заявками и берёт те, которые вам подходят.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686"/>
                </a:solidFill>
                <a:latin typeface="Calibri"/>
              </a:rPr>
              <a:t>Версия 1.1.1  ·  Windows 10 и новее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2433"/>
                </a:solidFill>
                <a:latin typeface="Cambria"/>
              </a:rPr>
              <a:t>Заявку получает тот, кто успел первым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686"/>
                </a:solidFill>
                <a:latin typeface="Calibri"/>
              </a:rPr>
              <a:t>Пока вы открываете портал и просматриваете список, её уже забрали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3383280" cy="27432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143000" y="2788920"/>
            <a:ext cx="502920" cy="502920"/>
          </a:xfrm>
          <a:prstGeom prst="ellipse">
            <a:avLst/>
          </a:prstGeom>
          <a:solidFill>
            <a:srgbClr val="00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52044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C2433"/>
                </a:solidFill>
                <a:latin typeface="Calibri"/>
              </a:rPr>
              <a:t>Заявки появляются в любое время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1148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686"/>
                </a:solidFill>
                <a:latin typeface="Calibri"/>
              </a:rPr>
              <a:t>в том числе ночью и в выходные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2377440"/>
            <a:ext cx="3383280" cy="27432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846320" y="2788920"/>
            <a:ext cx="502920" cy="502920"/>
          </a:xfrm>
          <a:prstGeom prst="ellipse">
            <a:avLst/>
          </a:prstGeom>
          <a:solidFill>
            <a:srgbClr val="00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352044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C2433"/>
                </a:solidFill>
                <a:latin typeface="Calibri"/>
              </a:rPr>
              <a:t>Их разбирают за минуты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1148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686"/>
                </a:solidFill>
                <a:latin typeface="Calibri"/>
              </a:rPr>
              <a:t>кто обновил страницу первым, тот и взял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377440"/>
            <a:ext cx="3383280" cy="27432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549640" y="2788920"/>
            <a:ext cx="502920" cy="502920"/>
          </a:xfrm>
          <a:prstGeom prst="ellipse">
            <a:avLst/>
          </a:prstGeom>
          <a:solidFill>
            <a:srgbClr val="00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352044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C2433"/>
                </a:solidFill>
                <a:latin typeface="Calibri"/>
              </a:rPr>
              <a:t>Смотреть вручную весь день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41148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686"/>
                </a:solidFill>
                <a:latin typeface="Calibri"/>
              </a:rPr>
              <a:t>невозможно и незачем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1206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07AFF"/>
                </a:solidFill>
                <a:latin typeface="Calibri"/>
              </a:rPr>
              <a:t>Программа делает это вместо вас — ровно, круглосуточно и по вашим правилам.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2433"/>
                </a:solidFill>
                <a:latin typeface="Cambria"/>
              </a:rPr>
              <a:t>Что делает программа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2221991"/>
            <a:ext cx="256032" cy="256032"/>
          </a:xfrm>
          <a:prstGeom prst="ellipse">
            <a:avLst/>
          </a:prstGeom>
          <a:solidFill>
            <a:srgbClr val="34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219456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C2433"/>
                </a:solidFill>
                <a:latin typeface="Calibri"/>
              </a:rPr>
              <a:t>Следит за списком заявок на вашем портале.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907791"/>
            <a:ext cx="256032" cy="256032"/>
          </a:xfrm>
          <a:prstGeom prst="ellipse">
            <a:avLst/>
          </a:prstGeom>
          <a:solidFill>
            <a:srgbClr val="34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88036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C2433"/>
                </a:solidFill>
                <a:latin typeface="Calibri"/>
              </a:rPr>
              <a:t>Проверяет каждую по вашим условиям.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593591"/>
            <a:ext cx="256032" cy="256032"/>
          </a:xfrm>
          <a:prstGeom prst="ellipse">
            <a:avLst/>
          </a:prstGeom>
          <a:solidFill>
            <a:srgbClr val="34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56616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C2433"/>
                </a:solidFill>
                <a:latin typeface="Calibri"/>
              </a:rPr>
              <a:t>Подходящую берёт сама, за секунды.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4279392"/>
            <a:ext cx="256032" cy="256032"/>
          </a:xfrm>
          <a:prstGeom prst="ellipse">
            <a:avLst/>
          </a:prstGeom>
          <a:solidFill>
            <a:srgbClr val="34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5196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C2433"/>
                </a:solidFill>
                <a:latin typeface="Calibri"/>
              </a:rPr>
              <a:t>Остальные пропускает и пишет, почему.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2103120"/>
            <a:ext cx="4754880" cy="3108960"/>
          </a:xfrm>
          <a:prstGeom prst="roundRect">
            <a:avLst>
              <a:gd name="adj" fmla="val 5000"/>
            </a:avLst>
          </a:prstGeom>
          <a:solidFill>
            <a:srgbClr val="0B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949440" y="2468880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E8F1FF"/>
                </a:solidFill>
                <a:latin typeface="Calibri"/>
              </a:rPr>
              <a:t>В журнале это выглядит так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310896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4C759"/>
                </a:solidFill>
                <a:latin typeface="Consolas"/>
              </a:rPr>
              <a:t>+  Подходит → беру: интернет-магазин…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56616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E8F1FF"/>
                </a:solidFill>
                <a:latin typeface="Consolas"/>
              </a:rPr>
              <a:t>–  Пропустил (правила): стоп-слово «студент»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402336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E8F1FF"/>
                </a:solidFill>
                <a:latin typeface="Consolas"/>
              </a:rPr>
              <a:t>–  Пропустил (нейросеть): не тот профиль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448056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4C759"/>
                </a:solidFill>
                <a:latin typeface="Consolas"/>
              </a:rPr>
              <a:t>+  Подходит → беру: лендинг для клиники…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2433"/>
                </a:solidFill>
                <a:latin typeface="Cambria"/>
              </a:rPr>
              <a:t>Три шага до первой заявки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2286000"/>
            <a:ext cx="685800" cy="685800"/>
          </a:xfrm>
          <a:prstGeom prst="ellipse">
            <a:avLst/>
          </a:prstGeom>
          <a:solidFill>
            <a:srgbClr val="00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331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C2433"/>
                </a:solidFill>
                <a:latin typeface="Cambria"/>
              </a:rPr>
              <a:t>Войти на портал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8346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6B7686"/>
                </a:solidFill>
                <a:latin typeface="Calibri"/>
              </a:rPr>
              <a:t>Один раз, через обычное окно браузера. Вход сохраняется.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611880"/>
            <a:ext cx="685800" cy="685800"/>
          </a:xfrm>
          <a:prstGeom prst="ellipse">
            <a:avLst/>
          </a:prstGeom>
          <a:solidFill>
            <a:srgbClr val="00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6576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C2433"/>
                </a:solidFill>
                <a:latin typeface="Cambria"/>
              </a:rPr>
              <a:t>Объяснить, что брать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1605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6B7686"/>
                </a:solidFill>
                <a:latin typeface="Calibri"/>
              </a:rPr>
              <a:t>Словами или галочками — как удобнее.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4937760"/>
            <a:ext cx="685800" cy="685800"/>
          </a:xfrm>
          <a:prstGeom prst="ellipse">
            <a:avLst/>
          </a:prstGeom>
          <a:solidFill>
            <a:srgbClr val="00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49834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C2433"/>
                </a:solidFill>
                <a:latin typeface="Cambria"/>
              </a:rPr>
              <a:t>Нажать «Старт»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4864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6B7686"/>
                </a:solidFill>
                <a:latin typeface="Calibri"/>
              </a:rPr>
              <a:t>Дальше программа работает сама.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630936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007AFF"/>
                </a:solidFill>
                <a:latin typeface="Calibri"/>
              </a:rPr>
              <a:t>Пока стоит галочка «Только смотреть», программа ничего не берёт — показывает, что взяла бы.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2433"/>
                </a:solidFill>
                <a:latin typeface="Cambria"/>
              </a:rPr>
              <a:t>Вы решаете, кто отбирает заявки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686"/>
                </a:solidFill>
                <a:latin typeface="Calibri"/>
              </a:rPr>
              <a:t>Режим переключается одной кнопкой и меняется в любой момент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143000" y="2788920"/>
            <a:ext cx="457200" cy="457200"/>
          </a:xfrm>
          <a:prstGeom prst="ellipse">
            <a:avLst/>
          </a:prstGeom>
          <a:solidFill>
            <a:srgbClr val="00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4290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C2433"/>
                </a:solidFill>
                <a:latin typeface="Cambria"/>
              </a:rPr>
              <a:t>Правила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023360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686"/>
                </a:solidFill>
                <a:latin typeface="Calibri"/>
              </a:rPr>
              <a:t>Слова, стоп-слова, города, отсечки.
Работает мгновенно, ничего не требует.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237744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846320" y="2788920"/>
            <a:ext cx="457200" cy="457200"/>
          </a:xfrm>
          <a:prstGeom prst="ellipse">
            <a:avLst/>
          </a:prstGeom>
          <a:solidFill>
            <a:srgbClr val="5B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34290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C2433"/>
                </a:solidFill>
                <a:latin typeface="Cambria"/>
              </a:rPr>
              <a:t>Нейросеть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023360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686"/>
                </a:solidFill>
                <a:latin typeface="Calibri"/>
              </a:rPr>
              <a:t>Правило обычными словами.
Понимает то, что галочками не опишешь.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377440"/>
            <a:ext cx="3383280" cy="329184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549640" y="2788920"/>
            <a:ext cx="457200" cy="457200"/>
          </a:xfrm>
          <a:prstGeom prst="ellipse">
            <a:avLst/>
          </a:prstGeom>
          <a:solidFill>
            <a:srgbClr val="34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342900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C2433"/>
                </a:solidFill>
                <a:latin typeface="Cambria"/>
              </a:rPr>
              <a:t>Правила + нейросеть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4023360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686"/>
                </a:solidFill>
                <a:latin typeface="Calibri"/>
              </a:rPr>
              <a:t>Сначала правила отсеивают мусор, потом проверяет нейросеть.
Экономит лимиты.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Правило пишется словами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1005840"/>
          </a:xfrm>
          <a:prstGeom prst="roundRect">
            <a:avLst>
              <a:gd name="adj" fmla="val 5000"/>
            </a:avLst>
          </a:prstGeom>
          <a:solidFill>
            <a:srgbClr val="16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88720" y="2468880"/>
            <a:ext cx="9784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«бери интернет-магазины и лендинги, не бери продление лицензий»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E8F1FF"/>
                </a:solidFill>
                <a:latin typeface="Calibri"/>
              </a:rPr>
              <a:t>А программа сразу отвечает, как она это поняла: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10515600" cy="1463040"/>
          </a:xfrm>
          <a:prstGeom prst="roundRect">
            <a:avLst>
              <a:gd name="adj" fmla="val 5000"/>
            </a:avLst>
          </a:prstGeom>
          <a:solidFill>
            <a:srgbClr val="16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88720" y="4343400"/>
            <a:ext cx="9784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4C759"/>
                </a:solidFill>
                <a:latin typeface="Calibri"/>
              </a:rPr>
              <a:t>Беру заявки со словами: магазин, лендинг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754880"/>
            <a:ext cx="9784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8F1FF"/>
                </a:solidFill>
                <a:latin typeface="Calibri"/>
              </a:rPr>
              <a:t>Пропускаю, если есть: лицензи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5166360"/>
            <a:ext cx="9784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8F1FF"/>
                </a:solidFill>
                <a:latin typeface="Calibri"/>
              </a:rPr>
              <a:t>Город не ограничиваю — беру со всей страны.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FB4FF"/>
                </a:solidFill>
                <a:latin typeface="Calibri"/>
              </a:rPr>
              <a:t>Никаких скрытых правил: видно ровно то, по чему программа будет работать.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2433"/>
                </a:solidFill>
                <a:latin typeface="Cambria"/>
              </a:rPr>
              <a:t>Работает аккуратно и в открытую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143000" y="2606040"/>
            <a:ext cx="411480" cy="411480"/>
          </a:xfrm>
          <a:prstGeom prst="ellipse">
            <a:avLst/>
          </a:prstGeom>
          <a:solidFill>
            <a:srgbClr val="34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2578608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C2433"/>
                </a:solidFill>
                <a:latin typeface="Calibri"/>
              </a:rPr>
              <a:t>Ничего не обходит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301752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686"/>
                </a:solidFill>
                <a:latin typeface="Calibri"/>
              </a:rPr>
              <a:t>Работает от вашего имени в вашем кабинете, как если бы вы обновляли страницу сами.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28600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675120" y="2606040"/>
            <a:ext cx="411480" cy="411480"/>
          </a:xfrm>
          <a:prstGeom prst="ellipse">
            <a:avLst/>
          </a:prstGeom>
          <a:solidFill>
            <a:srgbClr val="34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578608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C2433"/>
                </a:solidFill>
                <a:latin typeface="Calibri"/>
              </a:rPr>
              <a:t>Щадящая частота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01752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686"/>
                </a:solidFill>
                <a:latin typeface="Calibri"/>
              </a:rPr>
              <a:t>Проверка раз в 25–45 секунд вразнобой — чтобы не создавать нагрузку на портал.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38912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143000" y="4709159"/>
            <a:ext cx="411480" cy="411480"/>
          </a:xfrm>
          <a:prstGeom prst="ellipse">
            <a:avLst/>
          </a:prstGeom>
          <a:solidFill>
            <a:srgbClr val="34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4681728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C2433"/>
                </a:solidFill>
                <a:latin typeface="Calibri"/>
              </a:rPr>
              <a:t>Вход и ключи зашифрованы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512064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686"/>
                </a:solidFill>
                <a:latin typeface="Calibri"/>
              </a:rPr>
              <a:t>Привязаны к вашей учётной записи Windows. На чужом компьютере не прочитаются.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4389120"/>
            <a:ext cx="5212080" cy="18288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6675120" y="4709159"/>
            <a:ext cx="411480" cy="411480"/>
          </a:xfrm>
          <a:prstGeom prst="ellipse">
            <a:avLst/>
          </a:prstGeom>
          <a:solidFill>
            <a:srgbClr val="34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4681728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C2433"/>
                </a:solidFill>
                <a:latin typeface="Calibri"/>
              </a:rPr>
              <a:t>Ничего не уходит наружу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512064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686"/>
                </a:solidFill>
                <a:latin typeface="Calibri"/>
              </a:rPr>
              <a:t>Никакой отправки ваших заявок и настроек на сторонние серверы.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2433"/>
                </a:solidFill>
                <a:latin typeface="Cambria"/>
              </a:rPr>
              <a:t>Что ещё внутри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3383280" cy="173736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25603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2433"/>
                </a:solidFill>
                <a:latin typeface="Calibri"/>
              </a:rPr>
              <a:t>Проверка без риска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97180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686"/>
                </a:solidFill>
                <a:latin typeface="Calibri"/>
              </a:rPr>
              <a:t>прогон по текущим заявкам — покажет решение по каждой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2286000"/>
            <a:ext cx="3383280" cy="173736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46320" y="25603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2433"/>
                </a:solidFill>
                <a:latin typeface="Calibri"/>
              </a:rPr>
              <a:t>История и статистика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97180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686"/>
                </a:solidFill>
                <a:latin typeface="Calibri"/>
              </a:rPr>
              <a:t>что взято, что отсеяно, выгрузка в Excel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2286000"/>
            <a:ext cx="3383280" cy="173736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49640" y="25603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2433"/>
                </a:solidFill>
                <a:latin typeface="Calibri"/>
              </a:rPr>
              <a:t>Рабочие часы и лимит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97180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686"/>
                </a:solidFill>
                <a:latin typeface="Calibri"/>
              </a:rPr>
              <a:t>ночью спит, за день берёт не больше заданного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297680"/>
            <a:ext cx="3383280" cy="173736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143000" y="45720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2433"/>
                </a:solidFill>
                <a:latin typeface="Calibri"/>
              </a:rPr>
              <a:t>Трей и автозапуск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98348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686"/>
                </a:solidFill>
                <a:latin typeface="Calibri"/>
              </a:rPr>
              <a:t>не мешает и стартует вместе с Windows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4297680"/>
            <a:ext cx="3383280" cy="173736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846320" y="45720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2433"/>
                </a:solidFill>
                <a:latin typeface="Calibri"/>
              </a:rPr>
              <a:t>Пароль на окно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498348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686"/>
                </a:solidFill>
                <a:latin typeface="Calibri"/>
              </a:rPr>
              <a:t>от посторонних за вашим компьютером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4297680"/>
            <a:ext cx="3383280" cy="173736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549640" y="45720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2433"/>
                </a:solidFill>
                <a:latin typeface="Calibri"/>
              </a:rPr>
              <a:t>Перенос настроек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498348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686"/>
                </a:solidFill>
                <a:latin typeface="Calibri"/>
              </a:rPr>
              <a:t>файлом на другой компьютер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2433"/>
                </a:solidFill>
                <a:latin typeface="Cambria"/>
              </a:rPr>
              <a:t>Лицензия и обновления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5212080" cy="338328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143000" y="2514600"/>
            <a:ext cx="457200" cy="457200"/>
          </a:xfrm>
          <a:prstGeom prst="ellipse">
            <a:avLst/>
          </a:prstGeom>
          <a:solidFill>
            <a:srgbClr val="00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15468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C2433"/>
                </a:solidFill>
                <a:latin typeface="Cambria"/>
              </a:rPr>
              <a:t>Ключ под ваш портал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7033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686"/>
                </a:solidFill>
                <a:latin typeface="Calibri"/>
              </a:rPr>
              <a:t>— Выдаётся продавцом и вводится один раз.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1605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686"/>
                </a:solidFill>
                <a:latin typeface="Calibri"/>
              </a:rPr>
              <a:t>— Бывает бессрочным или на срок.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6177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686"/>
                </a:solidFill>
                <a:latin typeface="Calibri"/>
              </a:rPr>
              <a:t>— Программа заранее предупредит, что срок кончается.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194560"/>
            <a:ext cx="5029200" cy="338328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629400" y="2514600"/>
            <a:ext cx="457200" cy="457200"/>
          </a:xfrm>
          <a:prstGeom prst="ellipse">
            <a:avLst/>
          </a:prstGeom>
          <a:solidFill>
            <a:srgbClr val="34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15468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C2433"/>
                </a:solidFill>
                <a:latin typeface="Cambria"/>
              </a:rPr>
              <a:t>Обновления сами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0332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686"/>
                </a:solidFill>
                <a:latin typeface="Calibri"/>
              </a:rPr>
              <a:t>— Программа проверяет новую версию каждые 12 часов.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6052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686"/>
                </a:solidFill>
                <a:latin typeface="Calibri"/>
              </a:rPr>
              <a:t>— Сообщает и даёт ссылку — но ничего не ставит без вас.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61772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686"/>
                </a:solidFill>
                <a:latin typeface="Calibri"/>
              </a:rPr>
              <a:t>— Обновление поверх: настройки и статистика сохраняются.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Попробовать проще, чем кажется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834640"/>
            <a:ext cx="3383280" cy="1554480"/>
          </a:xfrm>
          <a:prstGeom prst="roundRect">
            <a:avLst>
              <a:gd name="adj" fmla="val 5000"/>
            </a:avLst>
          </a:prstGeom>
          <a:solidFill>
            <a:srgbClr val="16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31546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Windows 10 и новее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6118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E8F1FF"/>
                </a:solidFill>
                <a:latin typeface="Calibri"/>
              </a:rPr>
              <a:t>ставится без прав администратора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2834640"/>
            <a:ext cx="3383280" cy="1554480"/>
          </a:xfrm>
          <a:prstGeom prst="roundRect">
            <a:avLst>
              <a:gd name="adj" fmla="val 5000"/>
            </a:avLst>
          </a:prstGeom>
          <a:solidFill>
            <a:srgbClr val="16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46320" y="31546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Chrome или 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36118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E8F1FF"/>
                </a:solidFill>
                <a:latin typeface="Calibri"/>
              </a:rPr>
              <a:t>программа работает через браузер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2834640"/>
            <a:ext cx="3383280" cy="1554480"/>
          </a:xfrm>
          <a:prstGeom prst="roundRect">
            <a:avLst>
              <a:gd name="adj" fmla="val 5000"/>
            </a:avLst>
          </a:prstGeom>
          <a:solidFill>
            <a:srgbClr val="16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49640" y="315468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Партнёрский портал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6118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E8F1FF"/>
                </a:solidFill>
                <a:latin typeface="Calibri"/>
              </a:rPr>
              <a:t>и лицензионный ключ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E8F1FF"/>
                </a:solidFill>
                <a:latin typeface="Calibri"/>
              </a:rPr>
              <a:t>Первый запуск — в режиме «только смотреть»: программа покажет, что взяла бы, ничего не трогая.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686"/>
                </a:solidFill>
                <a:latin typeface="Calibri"/>
              </a:rPr>
              <a:t>Бот для заявок Битрикс24  ·  версия 1.1.1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